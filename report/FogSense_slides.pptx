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FogSense is a classical, density-aware, multi-algorithm dehazing framework. The headline is not a black box: every decision is explainable and every number is reproducible. v1 is the recommended default; v2 is an opt-in extension that we evaluate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parts, about twelve minutes. The key message: adapt the correction to estimated density, keep it classical and explainable, and report the v2 result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two rows: light haze becomes too dark with fixed DCP, heavy haze stays hazy. FogSense adapts ω, t₀ and the enhancement chain per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model in one minute. The guided filter is the difference between a usable transmission map and a noisy one; we implement the box-filter version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'multi-algorithm' part: the same density-aware interface can dispatch the adaptive pipeline and the fixed DCP, CAP and BCCR-style baselines. v2 is strictly opt-in.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this is label-free and fitted only on calib. Entropy carries most of the signal; contrast is close to neutral but kept for complementarity on real low-contrast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score is monotone in beta for every scene. The RTTS result is why the shipped estimator stays global while the ridge version is documented but not shipped.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selector comparison is an ablation, not a claim that three bins are magically optimal. They win on SSIM and remain interpretable, which matters for a course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transmission figure shows why refinement matters: raw DCP transmission is noisy and blocky; the guided filter recovers edges and avoids halos.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Enhancement is where the SSIM gain comes from. CLAHE alone reaches 18.18 dB / 0.8850; adding Retinex raises PSNR to 19.30 but lowers SSIM to 0.8840.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is deliberately conservative: airlight changes PSNR by only +0.11 dB on calib. The sky stage is the only step that improves both PSNR and SSIM; the local maps are the risky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freeze discipline: parameters are written before the test run and the repository is tagged. NIQE/FADE are locally fitted or fixed-weight proxies, not official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 slowly. v1 is best on PSNR and SSIM; v2 slightly better on colour (CIEDE). CAP narrows the PSNR advantage but not the structural/colour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honest result and a strength of the project. The sky stage is genuinely useful; the local omega/t0 maps are not, as configured. We keep the frozen config rather than tuning on the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ablation figure to justify the final design choices. The small SSIM difference between entropy-only and full density is within noise, so we do not over-claim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sky regions: v2's conservative mask helps some images and hurts others. The full four-row figure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screenshot is from the real app. Mention that the live timings vary with CPU load; the benchmark numbers are from the committed evaluation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limitations; this is what makes the evaluation credible. The sky-mask false positives are visible in the v2 density-map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 v2 result: we learned that the sky stage is the valuable part and the local maps need rethinking. That is a real, defensible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on the density estimator, the v2 negative result, or the baseline fairness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if asked about metrics. Be clear that NIQE/FADE are locally fitted or fixed-weight proxies.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if asked about reproducibility or the freeze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09728" cy="4937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>
                <a:solidFill>
                  <a:srgbClr val="FFFFFF"/>
                </a:solidFill>
                <a:latin typeface="Segoe UI"/>
              </a:rPr>
              <a:t>FogSense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7D9DD"/>
                </a:solidFill>
                <a:latin typeface="Segoe UI"/>
              </a:rPr>
              <a:t>An Intelligent Multi-Algorithm Framework for Adaptive Haze Removal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063240"/>
            <a:ext cx="4937760" cy="2743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6400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IPA Course Project · Image Processing &amp; Analysis</a:t>
            </a:r>
            <a:r>
              <a:rPr sz="1200">
                <a:solidFill>
                  <a:srgbClr val="A9B8C8"/>
                </a:solidFill>
                <a:latin typeface="Calibri"/>
              </a:rPr>
              <a:t>
Classical image processing only · no deep dehazing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064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F93A8"/>
                </a:solidFill>
              </a:rPr>
              <a:t>October 2026  ·  github.com/AtulTejaswi/adaptive-fog-density-dehazing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868680"/>
            <a:ext cx="434340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051560"/>
            <a:ext cx="3977639" cy="347606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43800" y="5532120"/>
            <a:ext cx="1965960" cy="29260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v1 default · v2 opt-in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A8A"/>
                </a:solidFill>
                <a:latin typeface="Calibri"/>
              </a:rP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B1F33"/>
                </a:solidFill>
                <a:latin typeface="Calibri"/>
              </a:rPr>
              <a:t>•  1.  Problem: why fixed-strength DCP fails across haze levels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B1F33"/>
                </a:solidFill>
                <a:latin typeface="Calibri"/>
              </a:rPr>
              <a:t>•  2.  Atmospheric model and label-free fog-density estimation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B1F33"/>
                </a:solidFill>
                <a:latin typeface="Calibri"/>
              </a:rPr>
              <a:t>•  3.  FogSense architecture and adaptive strategy selection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B1F33"/>
                </a:solidFill>
                <a:latin typeface="Calibri"/>
              </a:rPr>
              <a:t>•  4.  Evaluation protocol, baselines and main SOTS results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B1F33"/>
                </a:solidFill>
                <a:latin typeface="Calibri"/>
              </a:rPr>
              <a:t>•  5.  v2 upgrade: stronger baselines and an honest negative result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B1F33"/>
                </a:solidFill>
                <a:latin typeface="Calibri"/>
              </a:rPr>
              <a:t>•  6.  Ablations, runtime, demo, failure cases and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Problem: one fixed strength cannot fit every haze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B1F33"/>
                </a:solidFill>
                <a:latin typeface="Calibri"/>
              </a:rPr>
              <a:t>•  Haze scatters and attenuates light; contrast and colour fidelity drop.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B1F33"/>
                </a:solidFill>
                <a:latin typeface="Calibri"/>
              </a:rPr>
              <a:t>•  Dark Channel Prior with one ω and t₀ over-corrects light haze and under-corrects dense haze.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B1F33"/>
                </a:solidFill>
                <a:latin typeface="Calibri"/>
              </a:rPr>
              <a:t>•  The correction strength and enhancement should depend on the image, not on a global constant.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B1F33"/>
                </a:solidFill>
                <a:latin typeface="Calibri"/>
              </a:rPr>
              <a:t>•  Goal: estimate fog density first, then adapt DCP and enhancement to that density.</a:t>
            </a:r>
          </a:p>
        </p:txBody>
      </p:sp>
      <p:pic>
        <p:nvPicPr>
          <p:cNvPr id="9" name="Picture 8" descr="slid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263640" cy="37808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Atmospheric model and transmission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E7C86"/>
                </a:solidFill>
                <a:latin typeface="Calibri"/>
              </a:rPr>
              <a:t>I(x) = J(x) t(x) + A (1 − t(x)),     t(x) = exp(−β d(x))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J: clear scene radiance; A: atmospheric light; t: transmission; βd: optical depth.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DCP estimates A from the brightest 0.1% of dark-channel pixels and t from the dark channel.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Guided filter refines the noisy transmission map while preserving edges.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Radiance recovery: J = (I − A) / max(t, t₀) + 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Baseline uses fixed ω = 0.95, t₀ = 0.10 for every image.</a:t>
            </a:r>
          </a:p>
        </p:txBody>
      </p:sp>
      <p:pic>
        <p:nvPicPr>
          <p:cNvPr id="10" name="Picture 9" descr="transmiss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34440"/>
            <a:ext cx="5943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FogSense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661160" cy="77724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B1F33"/>
                </a:solidFill>
                <a:latin typeface="Calibri"/>
              </a:rPr>
              <a:t>Input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01240" y="2107691"/>
            <a:ext cx="201168" cy="219456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02408" y="1828800"/>
            <a:ext cx="1661160" cy="77724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B1F33"/>
                </a:solidFill>
                <a:latin typeface="Calibri"/>
              </a:rPr>
              <a:t>Preprocess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3568" y="2107691"/>
            <a:ext cx="201168" cy="219456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4736" y="1828800"/>
            <a:ext cx="1661160" cy="77724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B1F33"/>
                </a:solidFill>
                <a:latin typeface="Calibri"/>
              </a:rPr>
              <a:t>Density
score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25896" y="2107691"/>
            <a:ext cx="201168" cy="219456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7064" y="1828800"/>
            <a:ext cx="1661160" cy="77724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B1F33"/>
                </a:solidFill>
                <a:latin typeface="Calibri"/>
              </a:rPr>
              <a:t>Selector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8224" y="2107691"/>
            <a:ext cx="201168" cy="219456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9392" y="1828800"/>
            <a:ext cx="1661160" cy="77724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B1F33"/>
                </a:solidFill>
                <a:latin typeface="Calibri"/>
              </a:rPr>
              <a:t>DCP +
guided filter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50552" y="2107691"/>
            <a:ext cx="201168" cy="219456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51720" y="1828800"/>
            <a:ext cx="1661160" cy="77724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B1F33"/>
                </a:solidFill>
                <a:latin typeface="Calibri"/>
              </a:rPr>
              <a:t>Enhance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718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Preprocessing: RGB float32, long side 640 px, light bilateral denoise. Shared by all methods.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Density score → three-bin selector (light / moderate / heavy) → class-specific ω, t₀, filter, CLAHE, Retinex.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Baseline branch: fixed DCP for the paired comparison.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Stronger baselines (v2): CAP (Zhu 2015) and a BCCR-style boundary-constraint variant.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v2 opt-in branch: v2 airlight, sky/white-object handling, local density maps.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Fog-density estimation (label-free)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Dark-channel mean (15×15 patch): higher → hazier. Weight 0.45.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Shannon entropy of grayscale: lower → hazier. Weight 0.30.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Global contrast (RMS + Michelson): lower → hazier. Weight 0.25.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Each feature is percentile-normalised (p2–p98) using calib statistics only.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score = 0.45·ndc + 0.30·(1−nentropy) + 0.25·(1−ncontrast).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Thresholds are the calib tertiles: t₁ = 0.3937, t₂ = 0.5885.</a:t>
            </a:r>
          </a:p>
        </p:txBody>
      </p:sp>
      <p:pic>
        <p:nvPicPr>
          <p:cNvPr id="9" name="Picture 8" descr="score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852160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35204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B7A8A"/>
                </a:solidFill>
                <a:latin typeface="Calibri"/>
              </a:rPr>
              <a:t>No per-image beta label is needed on SOTS; the score is validated on the synthetic beta sweep.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Density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6</a:t>
            </a:r>
          </a:p>
        </p:txBody>
      </p:sp>
      <p:pic>
        <p:nvPicPr>
          <p:cNvPr id="8" name="Picture 7" descr="score_vs_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2084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417320"/>
            <a:ext cx="4297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Overall Spearman ρ(score, β) = 0.907.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Within-scene mean ρ = 0.992 (minimum 0.939 across 8 scenes).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Local density is the best single signal on the sweep: 0.948 vs 0.907 global.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On RTTS the ordering flips: global density tracks FADE better (0.933 vs 0.817).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Calib-fitted ridge weights reach 0.969 vs FADE but are reported as an experiment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Adaptive strategy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4663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932688"/>
                <a:gridCol w="932688"/>
                <a:gridCol w="932688"/>
                <a:gridCol w="932688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ω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t₀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CLAHE clip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Retinex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heavy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F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971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B7A8A"/>
                </a:solidFill>
                <a:latin typeface="Calibri"/>
              </a:rPr>
              <a:t>Parameters fitted on calib with a constrained two-stage search; correction strength increases with density.</a:t>
            </a:r>
          </a:p>
        </p:txBody>
      </p:sp>
      <p:pic>
        <p:nvPicPr>
          <p:cNvPr id="10" name="Picture 9" descr="selected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6400800" cy="1691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Continuous interpolation: 18.80 dB / 0.8574 SSIM (over-enhances some images).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Depth-3 classifier: 18.40 dB / 0.8780 SSIM.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Three-bin rule retained: simplest, interpretable, best SSIM (0.8896).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DCP dehazing and guided filtering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Dark channel on 15×15 patches estimates haze thickness.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Atmospheric light from the brightest 0.1% of dark-channel pixels.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Transmission: t = 1 − ω · dark(I/A), refined by the guided filter.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Radiance recovery with a t₀ floor to limit noise amplification.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Guided filter is edge-preserving; we use the local box-filter version.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Ablation: removing the guided filter costs about 0.85 dB PSNR.</a:t>
            </a:r>
          </a:p>
        </p:txBody>
      </p:sp>
      <p:pic>
        <p:nvPicPr>
          <p:cNvPr id="9" name="Picture 8" descr="transmiss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34440"/>
            <a:ext cx="5897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Enhancement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Retinex: multi-scale illumination correction on luminance (moderate class only).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CLAHE: adaptive histogram equalisation on L in LAB, blended at strength 0.4.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Gray-world: per-channel gains remove residual colour cast.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Each step is individually switchable for ablation.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Light/heavy disable Retinex; heavy keeps CLAHE for detail.</a:t>
            </a:r>
          </a:p>
        </p:txBody>
      </p:sp>
      <p:pic>
        <p:nvPicPr>
          <p:cNvPr id="9" name="Picture 8" descr="before_after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1264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v2 opt-in upgrades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Airlight v2: brightest 0.5% of dark channel, reject small components and high-gradient pixels; fallback to v1.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Sky / white-object mask: bright + smooth + connected; floors transmission at 0.25 and blends 25% toward input.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Local density map: local dark channel, rank entropy and contrast; guided-filter smoothed.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Per-pixel ω(x), t₀(x) interpolated from class centroids; enhancement blended by local density.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Quad-tree airlight search rejected on calib (−0.88 dB), so it is not used.</a:t>
            </a:r>
          </a:p>
        </p:txBody>
      </p:sp>
      <p:pic>
        <p:nvPicPr>
          <p:cNvPr id="9" name="Picture 8" descr="v2_density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34440"/>
            <a:ext cx="589788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5486400"/>
            <a:ext cx="5897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B7A8A"/>
                </a:solidFill>
                <a:latin typeface="Calibri"/>
              </a:rPr>
              <a:t>The green mask shows the conservative sky/white-object region; it can false-positive on bright indoor areas.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Evaluation protocol and baselines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Data: calib 299 pairs, SOTS test 243 pairs, RTTS 72 images, density validation 64, selector set 180.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Split by unique clear scene; preprocessing identical for every method.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Frozen tags: v0.1-frozen-params, v1.0, v2.0-frozen-params, v2.0. No test-set tuning.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Baselines: fixed DCP, CAP (Zhu 2015), BCCR-style (Meng 2013, simplified).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Metrics: PSNR/SSIM, CIEDE2000, NIQE-style and FADE-style (proxies), entropy, contrast, edge, runtime.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All v2 knobs fitted on calib only; v1 tables remain unchanged.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Main results: SOTS test (243 pairs)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PSNR (dB)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SSIM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CIEDE2000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ms/image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DCP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15.71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0.8263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12.64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18.09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0.7833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9.84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BCCR-style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16.02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0.8309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12.36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FogSense v1</a:t>
                      </a:r>
                    </a:p>
                  </a:txBody>
                  <a:tcPr>
                    <a:solidFill>
                      <a:srgbClr val="DDEF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18.78</a:t>
                      </a:r>
                    </a:p>
                  </a:txBody>
                  <a:tcPr>
                    <a:solidFill>
                      <a:srgbClr val="DDEF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0.8896</a:t>
                      </a:r>
                    </a:p>
                  </a:txBody>
                  <a:tcPr>
                    <a:solidFill>
                      <a:srgbClr val="DDEF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9.50</a:t>
                      </a:r>
                    </a:p>
                  </a:txBody>
                  <a:tcPr>
                    <a:solidFill>
                      <a:srgbClr val="DDEF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>
                    <a:solidFill>
                      <a:srgbClr val="DDEF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FogSense v2</a:t>
                      </a:r>
                    </a:p>
                  </a:txBody>
                  <a:tcPr>
                    <a:solidFill>
                      <a:srgbClr val="FBEA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18.45</a:t>
                      </a:r>
                    </a:p>
                  </a:txBody>
                  <a:tcPr>
                    <a:solidFill>
                      <a:srgbClr val="FBEA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0.8873</a:t>
                      </a:r>
                    </a:p>
                  </a:txBody>
                  <a:tcPr>
                    <a:solidFill>
                      <a:srgbClr val="FBEA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9.38</a:t>
                      </a:r>
                    </a:p>
                  </a:txBody>
                  <a:tcPr>
                    <a:solidFill>
                      <a:srgbClr val="FBEA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0B1F33"/>
                          </a:solidFill>
                          <a:latin typeface="Calibri"/>
                        </a:rPr>
                        <a:t>562</a:t>
                      </a:r>
                    </a:p>
                  </a:txBody>
                  <a:tcPr>
                    <a:solidFill>
                      <a:srgbClr val="FBEAD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132588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FogSense v1: +3.07 dB PSNR and +0.0633 SSIM over fixed DCP.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Win rate v1 vs DCP: PSNR 96.3%, SSIM 90.1%; gains in every haze class.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CAP is a much stronger PSNR baseline than DCP (18.09 vs 15.71) but lower SSIM.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BCCR-style is the most 'natural' (best NIQE) but under-enhances detail.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v1 also leads on real RTTS entropy gain (0.4165) and edge preservation (1.6733).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Honest v2 result: better indoors, worse on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13</a:t>
            </a:r>
          </a:p>
        </p:txBody>
      </p:sp>
      <p:pic>
        <p:nvPicPr>
          <p:cNvPr id="8" name="Picture 7" descr="slide_v2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903720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13258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v2 vs v1: PSNR −0.32 dB (p = 0.0002), SSIM −0.0023 (p = 0.44).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Indoor (n = 22): +0.75 dB PSNR, +0.0118 SSIM.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Outdoor (n = 221): −0.43 dB PSNR, −0.0037 SSIM.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Sky stage alone: +0.64 dB / +0.0037 SSIM over v1.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Local maps cost −0.87 dB; enhancement blend recovers SSIM only.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Brightness diagnostic: after mean/std matching, v2 is +0.37 dB vs v1.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Conclusion: v1 remains the default; v2 stays opt-in.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Ablations: what actually helps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14</a:t>
            </a:r>
          </a:p>
        </p:txBody>
      </p:sp>
      <p:pic>
        <p:nvPicPr>
          <p:cNvPr id="8" name="Picture 7" descr="slide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Enhancement drives SSIM: no enhancement 0.8726 → full pipeline 0.8896.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Retinex raises PSNR to 19.30 dB but lowers SSIM to 0.8840; gray-world gives best SSIM and lowest colour cast.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Three-bin selector beats continuous (0.8574 SSIM) and the depth-3 classifier (0.8780).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Density: dark-channel only 18.48 / 0.8831; adding entropy reaches 18.84 / 0.8901.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v2: only the sky step improves both metrics; local maps lose PSNR.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Qualitative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15</a:t>
            </a:r>
          </a:p>
        </p:txBody>
      </p:sp>
      <p:pic>
        <p:nvPicPr>
          <p:cNvPr id="8" name="Picture 7" descr="slide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v1 recovers contrast and detail across haze levels; v2 helps indoor bright regions.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CAP is strong on PSNR but has lower SSIM; BCCR-style is most natural but under-enhances.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v2 can over- or under-correct outdoors, matching the quantitative outdoor loss.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Runtime and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16</a:t>
            </a:r>
          </a:p>
        </p:txBody>
      </p:sp>
      <p:pic>
        <p:nvPicPr>
          <p:cNvPr id="8" name="Picture 7" descr="slide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309360" cy="3383280"/>
          </a:xfrm>
          <a:prstGeom prst="rect">
            <a:avLst/>
          </a:prstGeom>
        </p:spPr>
      </p:pic>
      <p:pic>
        <p:nvPicPr>
          <p:cNvPr id="9" name="Picture 8" descr="app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34440"/>
            <a:ext cx="4572000" cy="2880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754880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Fixed DCP 59 ms; FogSense v1 192 ms; FogSense v2 562 ms (~2.9× v1).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Local density map is the main extra cost; airlight/sky are cheap.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>
                <a:solidFill>
                  <a:srgbClr val="0B1F33"/>
                </a:solidFill>
                <a:latin typeface="Calibri"/>
              </a:rPr>
              <a:t>•  Live demo: Streamlit app with density map, transmission map and v2 toggles.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python -m streamlit run app/app.py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Failure cases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Sky and white objects violate the dark-channel assumption → darkening or colour shift.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Night haze has weak colour statistics; the density score is less reliable.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Noise amplification in dense haze: the t₀ floor trades detail for noise.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CLAHE/Retinex can over-sharpen texture and amplify artefacts.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v2: indoor gain from only 22 pairs; outdoor loss dominates the average.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NIQE-style and FADE-style are proxies, not official learned models.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v2 is ~2.9× slower than v1 and ~9× slower than fixed DCP on CPU.</a:t>
            </a:r>
          </a:p>
        </p:txBody>
      </p:sp>
      <p:pic>
        <p:nvPicPr>
          <p:cNvPr id="9" name="Picture 8" descr="failur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8521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FogSense is a classical, density-aware, multi-algorithm framework with an explainable decision chain.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v1 reaches 18.78 dB / 0.8896 SSIM vs fixed DCP 15.71 dB / 0.8263 SSIM on 243 SOTS pairs.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Gains in every haze class; 96.3% PSNR and 90.1% SSIM win rates.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CAP is a strong baseline; the adaptive advantage is structural and colour, not only PSNR.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v2 is reported honestly: better indoors and on CIEDE2000, but an aggregate PSNR loss; v1 stays default.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>
                <a:solidFill>
                  <a:srgbClr val="0B1F33"/>
                </a:solidFill>
                <a:latin typeface="Calibri"/>
              </a:rPr>
              <a:t>•  Future work: better airlight/sky handling, adaptive t₀, faster local features, real-world validation.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E7C86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B1F33"/>
                </a:solidFill>
                <a:latin typeface="Calibri"/>
              </a:rPr>
              <a:t>•  Repository: github.com/AtulTejaswi/adaptive-fog-density-dehazing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B1F33"/>
                </a:solidFill>
                <a:latin typeface="Calibri"/>
              </a:rPr>
              <a:t>•  Demo: python -m streamlit run app/app.py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B1F33"/>
                </a:solidFill>
                <a:latin typeface="Calibri"/>
              </a:rPr>
              <a:t>•  Report: report/report.md  ·  Slides: report/FogSense_slides.pptx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B1F33"/>
                </a:solidFill>
                <a:latin typeface="Calibri"/>
              </a:rPr>
              <a:t>•  All numbers are generated from files under results/ and are reproducible.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Appendix A: metric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A8A"/>
                </a:solidFill>
                <a:latin typeface="Calibri"/>
              </a:rPr>
              <a:t>Backup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PSNR / SSIM: full-reference against the clear SOTS ground truth.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CIEDE2000: mean colour difference in Lab (lower is better).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NIQE-style: MSCN statistics vs a Gaussian fitted on 299 calib clear images (lower is better).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FADE-style: Choi et al. feature set with fixed documented weights (lower = clearer).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No-reference: entropy gain, RMS contrast improvement, Sobel edge-preservation ratio, colour cast.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NIQE/FADE are proxies: relative trends only, not absolute scores.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Segoe UI"/>
              </a:rPr>
              <a:t>Appendix B: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A8A"/>
                </a:solidFill>
                <a:latin typeface="Calibri"/>
              </a:rPr>
              <a:t>Backup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9144"/>
          </a:xfrm>
          <a:prstGeom prst="rect">
            <a:avLst/>
          </a:prstGeom>
          <a:solidFill>
            <a:srgbClr val="CD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A8A"/>
                </a:solidFill>
              </a:rPr>
              <a:t>FogSense · IPA course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B7A8A"/>
                </a:solidFill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v1 pipeline: .\run_all.ps1 (or the individual scripts in the README).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v2 pipeline: .\run_all_v2.ps1 --no-download (about 35–45 minutes).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Tests: python -m pytest  (83 tests, including byte-identical v2-off compatibility).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Tags: v0.1-frozen-params, v1.0, v2.0-frozen-params, v2.0.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B1F33"/>
                </a:solidFill>
                <a:latin typeface="Calibri"/>
              </a:rPr>
              <a:t>•  With every v2 flag off, output is byte-identical to v1.0.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